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2c8ca419c413c" /><Relationship Type="http://schemas.openxmlformats.org/officeDocument/2006/relationships/extended-properties" Target="/docProps/app.xml" Id="R44d1f6d5c532416b" /><Relationship Type="http://schemas.openxmlformats.org/officeDocument/2006/relationships/officeDocument" Target="/ppt/presentation.xml" Id="Rb7c573d1b8e2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ba282879104322"/>
  </p:sldMasterIdLst>
  <p:notesMasterIdLst>
    <p:notesMasterId xmlns:r="http://schemas.openxmlformats.org/officeDocument/2006/relationships" r:id="R3c56e42abec84228"/>
  </p:notesMasterIdLst>
  <p:sldIdLst>
    <p:sldId xmlns:r="http://schemas.openxmlformats.org/officeDocument/2006/relationships" id="256" r:id="Red11becd5cd147c6"/>
    <p:sldId xmlns:r="http://schemas.openxmlformats.org/officeDocument/2006/relationships" id="257" r:id="Rb8564ba71465472e"/>
    <p:sldId xmlns:r="http://schemas.openxmlformats.org/officeDocument/2006/relationships" id="258" r:id="Rfc4113bf9e8146ac"/>
    <p:sldId xmlns:r="http://schemas.openxmlformats.org/officeDocument/2006/relationships" id="259" r:id="R28c9f8d8d1394ec7"/>
    <p:sldId xmlns:r="http://schemas.openxmlformats.org/officeDocument/2006/relationships" id="260" r:id="R856136527cea46d7"/>
    <p:sldId xmlns:r="http://schemas.openxmlformats.org/officeDocument/2006/relationships" id="261" r:id="R8589684869ff438b"/>
    <p:sldId xmlns:r="http://schemas.openxmlformats.org/officeDocument/2006/relationships" id="262" r:id="R7877b6c955d04d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a282879104322" /><Relationship Type="http://schemas.openxmlformats.org/officeDocument/2006/relationships/theme" Target="/ppt/theme/theme1.xml" Id="Redd7ace5867a4055" /><Relationship Type="http://schemas.openxmlformats.org/officeDocument/2006/relationships/notesMaster" Target="/ppt/notesMasters/notesMaster1.xml" Id="R3c56e42abec84228" /><Relationship Type="http://schemas.openxmlformats.org/officeDocument/2006/relationships/presProps" Target="/ppt/presProps.xml" Id="Rf80470d5f9634a79" /><Relationship Type="http://schemas.openxmlformats.org/officeDocument/2006/relationships/viewProps" Target="/ppt/viewProps.xml" Id="R2033cc07b74a4096" /><Relationship Type="http://schemas.openxmlformats.org/officeDocument/2006/relationships/tableStyles" Target="/ppt/tableStyles.xml" Id="R29a7ab5f7e4c429f" /><Relationship Type="http://schemas.openxmlformats.org/officeDocument/2006/relationships/slide" Target="/ppt/slides/slide1.xml" Id="Red11becd5cd147c6" /><Relationship Type="http://schemas.openxmlformats.org/officeDocument/2006/relationships/slide" Target="/ppt/slides/slide2.xml" Id="Rb8564ba71465472e" /><Relationship Type="http://schemas.openxmlformats.org/officeDocument/2006/relationships/slide" Target="/ppt/slides/slide3.xml" Id="Rfc4113bf9e8146ac" /><Relationship Type="http://schemas.openxmlformats.org/officeDocument/2006/relationships/slide" Target="/ppt/slides/slide4.xml" Id="R28c9f8d8d1394ec7" /><Relationship Type="http://schemas.openxmlformats.org/officeDocument/2006/relationships/slide" Target="/ppt/slides/slide5.xml" Id="R856136527cea46d7" /><Relationship Type="http://schemas.openxmlformats.org/officeDocument/2006/relationships/slide" Target="/ppt/slides/slide6.xml" Id="R8589684869ff438b" /><Relationship Type="http://schemas.openxmlformats.org/officeDocument/2006/relationships/slide" Target="/ppt/slides/slide7.xml" Id="R7877b6c955d04d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6c3e3408bb8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6b2e3356a4a94" /><Relationship Type="http://schemas.openxmlformats.org/officeDocument/2006/relationships/notesMaster" Target="/ppt/notesMasters/notesMaster1.xml" Id="R39ea05970f1249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f81c688d604291" /><Relationship Type="http://schemas.openxmlformats.org/officeDocument/2006/relationships/notesMaster" Target="/ppt/notesMasters/notesMaster1.xml" Id="Reac9825cec3542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333f82c3b749d1" /><Relationship Type="http://schemas.openxmlformats.org/officeDocument/2006/relationships/notesMaster" Target="/ppt/notesMasters/notesMaster1.xml" Id="Rc54ad8b326424b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ed0840ae984459" /><Relationship Type="http://schemas.openxmlformats.org/officeDocument/2006/relationships/notesMaster" Target="/ppt/notesMasters/notesMaster1.xml" Id="Rf561e7cd7db647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9178a4808f4b77" /><Relationship Type="http://schemas.openxmlformats.org/officeDocument/2006/relationships/notesMaster" Target="/ppt/notesMasters/notesMaster1.xml" Id="R5cfdfe5aadab49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384b0df42947bb" /><Relationship Type="http://schemas.openxmlformats.org/officeDocument/2006/relationships/notesMaster" Target="/ppt/notesMasters/notesMaster1.xml" Id="R209510799bda45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aedf8410164dc4" /><Relationship Type="http://schemas.openxmlformats.org/officeDocument/2006/relationships/notesMaster" Target="/ppt/notesMasters/notesMaster1.xml" Id="R62c0c5f35c7845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111fc3497431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8cb82a0b94742a5" /><Relationship Type="http://schemas.openxmlformats.org/officeDocument/2006/relationships/slideLayout" Target="/ppt/slideLayouts/slideLayout2.xml" Id="R87ec42492f2f4e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c42492f2f4e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a5ef09be034b3c" /><Relationship Type="http://schemas.openxmlformats.org/officeDocument/2006/relationships/image" Target="/ppt/media/image.png" Id="R1ab2d28d67c74dd8" /><Relationship Type="http://schemas.openxmlformats.org/officeDocument/2006/relationships/image" Target="/ppt/media/image.svg" Id="R5182f30d9de9488b" /><Relationship Type="http://schemas.openxmlformats.org/officeDocument/2006/relationships/image" Target="/ppt/media/image2.png" Id="Rde6ed6db815549b7" /><Relationship Type="http://schemas.openxmlformats.org/officeDocument/2006/relationships/image" Target="/ppt/media/image2.svg" Id="R218073caa1744dd0" /><Relationship Type="http://schemas.openxmlformats.org/officeDocument/2006/relationships/image" Target="/ppt/media/image3.png" Id="Rd1893f5070174e51" /><Relationship Type="http://schemas.openxmlformats.org/officeDocument/2006/relationships/image" Target="/ppt/media/image3.svg" Id="R430df6ed388743a3" /><Relationship Type="http://schemas.openxmlformats.org/officeDocument/2006/relationships/image" Target="/ppt/media/image4.png" Id="Re016a43d46d74ee8" /><Relationship Type="http://schemas.openxmlformats.org/officeDocument/2006/relationships/image" Target="/ppt/media/image4.svg" Id="R4619b2f80dc54353" /><Relationship Type="http://schemas.openxmlformats.org/officeDocument/2006/relationships/notesSlide" Target="/ppt/notesSlides/notesSlide1.xml" Id="R82ec8f29eaa2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65c6fab2384595" /><Relationship Type="http://schemas.openxmlformats.org/officeDocument/2006/relationships/image" Target="/ppt/media/image5.png" Id="R3e8729697221439a" /><Relationship Type="http://schemas.openxmlformats.org/officeDocument/2006/relationships/image" Target="/ppt/media/image5.svg" Id="R93c2d529327f47ed" /><Relationship Type="http://schemas.openxmlformats.org/officeDocument/2006/relationships/image" Target="/ppt/media/image6.png" Id="R5d5389f8a61341a2" /><Relationship Type="http://schemas.openxmlformats.org/officeDocument/2006/relationships/image" Target="/ppt/media/image6.svg" Id="Red8bb34dc99d4c93" /><Relationship Type="http://schemas.openxmlformats.org/officeDocument/2006/relationships/notesSlide" Target="/ppt/notesSlides/notesSlide2.xml" Id="R36666a271df84d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35d9e59c14984" /><Relationship Type="http://schemas.openxmlformats.org/officeDocument/2006/relationships/image" Target="/ppt/media/image7.png" Id="Rb62522e008c14bbe" /><Relationship Type="http://schemas.openxmlformats.org/officeDocument/2006/relationships/image" Target="/ppt/media/image7.svg" Id="R735100a074334cc8" /><Relationship Type="http://schemas.openxmlformats.org/officeDocument/2006/relationships/image" Target="/ppt/media/image8.png" Id="R3d843a73fad34010" /><Relationship Type="http://schemas.openxmlformats.org/officeDocument/2006/relationships/image" Target="/ppt/media/image8.svg" Id="R05575b25451b4063" /><Relationship Type="http://schemas.openxmlformats.org/officeDocument/2006/relationships/image" Target="/ppt/media/image9.png" Id="Ra1491f876a0c431b" /><Relationship Type="http://schemas.openxmlformats.org/officeDocument/2006/relationships/image" Target="/ppt/media/image9.svg" Id="R872905b5669a4e6b" /><Relationship Type="http://schemas.openxmlformats.org/officeDocument/2006/relationships/image" Target="/ppt/media/image10.png" Id="R765a918070b04438" /><Relationship Type="http://schemas.openxmlformats.org/officeDocument/2006/relationships/image" Target="/ppt/media/image10.svg" Id="R78428412ecbe436e" /><Relationship Type="http://schemas.openxmlformats.org/officeDocument/2006/relationships/image" Target="/ppt/media/image11.png" Id="R2d0e8607a1624f64" /><Relationship Type="http://schemas.openxmlformats.org/officeDocument/2006/relationships/image" Target="/ppt/media/image11.svg" Id="Rfdf29ae0e51f4a12" /><Relationship Type="http://schemas.openxmlformats.org/officeDocument/2006/relationships/notesSlide" Target="/ppt/notesSlides/notesSlide3.xml" Id="Rd8bbe578cd8647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f0b53880fd47b3" /><Relationship Type="http://schemas.openxmlformats.org/officeDocument/2006/relationships/notesSlide" Target="/ppt/notesSlides/notesSlide4.xml" Id="Rb7c85d562b29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04b3eb36d4e3a" /><Relationship Type="http://schemas.openxmlformats.org/officeDocument/2006/relationships/image" Target="/ppt/media/image12.png" Id="R2b31a6bfbd1b4f9a" /><Relationship Type="http://schemas.openxmlformats.org/officeDocument/2006/relationships/image" Target="/ppt/media/image12.svg" Id="R1cb781912e644652" /><Relationship Type="http://schemas.openxmlformats.org/officeDocument/2006/relationships/image" Target="/ppt/media/image13.png" Id="Rbd13f6378e564742" /><Relationship Type="http://schemas.openxmlformats.org/officeDocument/2006/relationships/image" Target="/ppt/media/image13.svg" Id="R2277f63b314f470b" /><Relationship Type="http://schemas.openxmlformats.org/officeDocument/2006/relationships/notesSlide" Target="/ppt/notesSlides/notesSlide5.xml" Id="R6eeb5169b134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d4e6cdc5bb4055" /><Relationship Type="http://schemas.openxmlformats.org/officeDocument/2006/relationships/image" Target="/ppt/media/image14.png" Id="Ra7a244fabf304586" /><Relationship Type="http://schemas.openxmlformats.org/officeDocument/2006/relationships/image" Target="/ppt/media/image14.svg" Id="Ra1f6d9374e274a8b" /><Relationship Type="http://schemas.openxmlformats.org/officeDocument/2006/relationships/image" Target="/ppt/media/image15.png" Id="R40e2766de1a14155" /><Relationship Type="http://schemas.openxmlformats.org/officeDocument/2006/relationships/image" Target="/ppt/media/image15.svg" Id="R5e9454f360c24c23" /><Relationship Type="http://schemas.openxmlformats.org/officeDocument/2006/relationships/image" Target="/ppt/media/image16.png" Id="R6931a7cc7a3c47eb" /><Relationship Type="http://schemas.openxmlformats.org/officeDocument/2006/relationships/image" Target="/ppt/media/image16.svg" Id="Rf69915b84a1e43d2" /><Relationship Type="http://schemas.openxmlformats.org/officeDocument/2006/relationships/image" Target="/ppt/media/image17.png" Id="R733d84fd42c04618" /><Relationship Type="http://schemas.openxmlformats.org/officeDocument/2006/relationships/image" Target="/ppt/media/image17.svg" Id="R8960ec0762e84259" /><Relationship Type="http://schemas.openxmlformats.org/officeDocument/2006/relationships/image" Target="/ppt/media/image18.png" Id="Rd12a8d1b60084434" /><Relationship Type="http://schemas.openxmlformats.org/officeDocument/2006/relationships/image" Target="/ppt/media/image18.svg" Id="R181f52d7e8ac4750" /><Relationship Type="http://schemas.openxmlformats.org/officeDocument/2006/relationships/notesSlide" Target="/ppt/notesSlides/notesSlide6.xml" Id="R1bdf983291954d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a8873e3844707" /><Relationship Type="http://schemas.openxmlformats.org/officeDocument/2006/relationships/notesSlide" Target="/ppt/notesSlides/notesSlide7.xml" Id="Re38c431f83794b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362F3-13C4-4FA1-B63A-7FCB964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090BF-9BBB-4CF5-B3B5-886B96D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8604D-DC19-4E37-91E8-CE9D4BB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33CA88-161F-4158-8628-8BE6B47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74F180-5675-409F-9C12-00E45EE1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C9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C95A"/>
                </a:solidFill>
                <a:latin typeface="Aptos"/>
                <a:ea typeface="Aptos"/>
                <a:cs typeface="Aptos"/>
              </a:rPr>
              <a:t>PHASE 1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66DC-8817-40D8-AAA9-4088A732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MatriBlood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D0FC1-4FB9-40A3-BEAE-4EDC7C12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8E7E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8E7EC"/>
                </a:solidFill>
                <a:latin typeface="Aptos Display"/>
                <a:ea typeface="Aptos Display"/>
                <a:cs typeface="Aptos Display"/>
              </a:rPr>
              <a:t>Voice-first quantum procurement for obstetric emergency kits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E75A5-403E-4B6C-8192-4C5493C0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DD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DDE4"/>
                </a:solidFill>
                <a:latin typeface="Aptos"/>
                <a:ea typeface="Aptos"/>
                <a:cs typeface="Aptos"/>
              </a:rPr>
              <a:t>For postpartum hemorrhage and similar maternity emergencies, the bottleneck is not knowing a stock exists; it is assembling the complete kit fast enough.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556D9-43DC-404C-BD5C-6D26E54D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2d28d67c74dd8">
            <a:extLst>
              <a:ext uri="{96DAC541-7B7A-43D3-8B79-37D633B846F1}">
                <asvg:svgBlip xmlns:asvg="http://schemas.microsoft.com/office/drawing/2016/SVG/main" r:embed="R5182f30d9de948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14950" y="3467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A9F4B-18A1-4C36-A217-FBAE4F5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86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speak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D2792-57CB-46A7-9CBF-9F73BF03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Elato ESP32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05853-EDEC-4446-95AA-89E65EC2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47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0F24E-5C5E-4C9D-9A02-BBECB08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62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BDD36-5334-45AB-B355-A2C76984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ed6db815549b7">
            <a:extLst>
              <a:ext uri="{96DAC541-7B7A-43D3-8B79-37D633B846F1}">
                <asvg:svgBlip xmlns:asvg="http://schemas.microsoft.com/office/drawing/2016/SVG/main" r:embed="R218073caa1744d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29450" y="3467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9F0B1-16A0-449E-A815-610DDF8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0C250-1B7C-46E6-9416-166816C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TokenRouter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19957-E6BD-45AB-9A94-B35FC7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47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A65AF-E2C5-4761-9F15-BE243E3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36D31-CD57-40C2-9A4A-F697145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93f5070174e51">
            <a:extLst>
              <a:ext uri="{96DAC541-7B7A-43D3-8B79-37D633B846F1}">
                <asvg:svgBlip xmlns:asvg="http://schemas.microsoft.com/office/drawing/2016/SVG/main" r:embed="R430df6ed388743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3467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880A6-9D4B-4266-84CD-464812E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A5EC7-B265-4B6E-B8AC-71599978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Qiskit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604F4C-56CC-46B2-8A23-A94B62D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147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9457B-41BF-4457-9A3D-766F579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62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6C800-787C-4612-856D-A84C2B09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95650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6a43d46d74ee8">
            <a:extLst>
              <a:ext uri="{96DAC541-7B7A-43D3-8B79-37D633B846F1}">
                <asvg:svgBlip xmlns:asvg="http://schemas.microsoft.com/office/drawing/2016/SVG/main" r:embed="R4619b2f80dc5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58450" y="3467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911D5-D006-47D0-82FF-E108D234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86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dispatch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B1F51-8F1C-4074-83D2-BE59C1A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14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Dashboard + voice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AC2E8-CA70-4458-9FE4-7443448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43399B-5296-4343-8A10-E712116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38775"/>
            <a:ext cx="523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3-minute story: problem -&gt; quantum decision -&gt; feasible 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C907A4-87E9-4755-9C38-AD201AE6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MatriBlood Q concept deck | Phase 1: pitch-only deliverable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A4EE8-BEEE-49BF-9B9A-2B80D531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59179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4A5DA-F879-4640-8449-463B7ED8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29D101-A476-491E-A31D-DCDFD86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033E96-D3DF-447A-8697-36FE2A6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0EDCE-5B14-4F0E-AD37-D45A47A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gap is not blood-stock visibility; it is emergency procurement orchestration.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AC10A-8FCB-4A7B-BAA5-EE83148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A maternity hospital may have tied-up blood banks and visible stock, but a PPH case still needs a complete kit assembled across blood products, medicines, expiry windows, and couriers.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E4A0-5E88-4957-817B-7649DBD4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DA1C0-14DF-42F6-9D23-1070C4B4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C3845-7BA5-4A2A-939A-814C1DE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3725B-D2AF-48AA-A3D0-F6B64F90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Karnataka directed maternity hospitals to maintain blood-bank tie-ups after maternal-death audit concerns.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12CB1-48A8-45EB-955A-C7B5572F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C2FFC-201B-4D75-9C16-7E9CC96C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F788C-8A86-401C-9611-398EEB4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Live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C1C0B-9B83-4620-AE85-0D1E9E5B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eRaktKosh-style systems expose availability, but stock visibility alone does not select a complete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2D5A1-9A40-4067-BB98-90F16EF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B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B2AC1-B2D1-4AB5-BBAD-BDFCE579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3FF99-29B8-4098-902A-992A20E4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Short shelf life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03598-3E4D-46AE-9914-9CC3A2C7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281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Platelets and blood components can expire; procurement must balance urgency with avoidable wastage.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3EE58-7BF4-412B-819C-1794F045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9867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8BF6C-299A-435D-BA8F-4385BA55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Current workflow under pressure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3F176-6886-487B-A8FB-860C126A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Phone calls -&gt; partial stock checks -&gt; nearest-source bias</a:t>
            </a:r>
          </a:p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-&gt; courier confusion -&gt; delayed complete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AC8F9-217D-469B-BA62-19C941A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Opportunity: convert a spoken request into the fastest feasible complete procurement plan.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729697221439a">
            <a:extLst>
              <a:ext uri="{96DAC541-7B7A-43D3-8B79-37D633B846F1}">
                <asvg:svgBlip xmlns:asvg="http://schemas.microsoft.com/office/drawing/2016/SVG/main" r:embed="R93c2d529327f47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46291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389f8a61341a2">
            <a:extLst>
              <a:ext uri="{96DAC541-7B7A-43D3-8B79-37D633B846F1}">
                <asvg:svgBlip xmlns:asvg="http://schemas.microsoft.com/office/drawing/2016/SVG/main" r:embed="Red8bb34dc99d4c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46291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A535E-7F23-45DC-91A6-9DBEA47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Sources: Times of India, Mar 27 2026; National Government Services Portal/eRaktKosh, May 2026; public blood-component wastage literature.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33A84-6B3A-42D9-A9E6-9BD520E8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64259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0ABC6-74B0-472C-8576-C06C4BFE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F7A6DD-D61B-46C1-92C8-4FE194D4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6EBF17-4167-4D1C-96FE-EB96936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PROPOSED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FB3F7-2FFF-4EC4-A8FC-129DC38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One spoken emergency request becomes a verified procurement action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0F138-4DDD-46E5-B9D8-90D9837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FAFE-60BF-49B5-83BB-A27DF4B9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522e008c14bbe">
            <a:extLst>
              <a:ext uri="{96DAC541-7B7A-43D3-8B79-37D633B846F1}">
                <asvg:svgBlip xmlns:asvg="http://schemas.microsoft.com/office/drawing/2016/SVG/main" r:embed="R735100a074334c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457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DE75D-472F-4196-A224-F113C55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1. 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BD5C0-BA2F-47A6-9C96-DE9C030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Clinician speaks into Elato ESP32 during PPH emergency.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F8066-6832-4859-A582-8CE2551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38463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8CF9-FBF4-4C66-91F9-4CA951F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6A0E7-291F-40F5-837D-450DC377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1619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1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D2E3E-CD8D-4ABB-858D-9B91A12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86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43a73fad34010">
            <a:extLst>
              <a:ext uri="{96DAC541-7B7A-43D3-8B79-37D633B846F1}">
                <asvg:svgBlip xmlns:asvg="http://schemas.microsoft.com/office/drawing/2016/SVG/main" r:embed="R05575b25451b40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2457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0A1A4-8FF5-4838-87DE-7991515A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66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2. Transcript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0DA5D-0D32-4C22-8269-14D04C0B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765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Deno WebSocket + Supabase store message stream.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7AF6A-6736-4814-8479-1850E2B3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8463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E4DA0-EA04-4D9D-BF69-126EDD4D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6B9B0-34E0-4D7C-841F-0D864D46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1619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B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132CA-017B-4FEA-9619-F81C2B41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91f876a0c431b">
            <a:extLst>
              <a:ext uri="{96DAC541-7B7A-43D3-8B79-37D633B846F1}">
                <asvg:svgBlip xmlns:asvg="http://schemas.microsoft.com/office/drawing/2016/SVG/main" r:embed="R872905b5669a4e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72050" y="2457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91E46-ED34-4829-BF29-A82BB4D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66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3. Parse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7014E-6FFF-4CFD-B781-2D85CA48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TokenRouter extracts products, units, blood group, target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7A5DD-6DD4-4F66-A145-7A6AA2D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38463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937AF-DBE6-41C4-A2C8-2DBA514E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8586D-E179-4D32-A809-4D119061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1619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B9CC6-A4AC-452B-A5E3-6FB9363A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a918070b04438">
            <a:extLst>
              <a:ext uri="{96DAC541-7B7A-43D3-8B79-37D633B846F1}">
                <asvg:svgBlip xmlns:asvg="http://schemas.microsoft.com/office/drawing/2016/SVG/main" r:embed="R78428412ecbe43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67550" y="2457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13D158-DE15-4150-AB40-868A618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66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4. Optimize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40056-1772-4EEA-A217-DE9D973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1314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Python/Qiskit selects source-product-courier choices.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75475-B82C-4B8D-AC29-1127C5D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8463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61B669-05C9-489D-89AA-4777E3A1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86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6B408-602D-44BF-83D3-3D80194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286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8F3BE9-9662-480E-BAD0-FA1CF290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e8607a1624f64">
            <a:extLst>
              <a:ext uri="{96DAC541-7B7A-43D3-8B79-37D633B846F1}">
                <asvg:svgBlip xmlns:asvg="http://schemas.microsoft.com/office/drawing/2016/SVG/main" r:embed="Rfdf29ae0e51f4a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63050" y="2457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01790-9BFC-465F-A313-59398F8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669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5. Act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CD6DF0-C546-4602-BCFD-4A160F69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Dashboard and device return prioritized calls, courier plan, ETA.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CF119-1F28-4D03-AE30-B57AC717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9563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35909F-73C0-4736-9938-7B947DA7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C9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C95A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727EE2-5766-4601-9D77-B838BB93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2915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MatriBlood Q procures requested items faster;</a:t>
            </a:r>
          </a:p>
          <a:p xmlns:a="http://schemas.openxmlformats.org/drawingml/2006/main">
            <a:pPr algn="l">
              <a:def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it does not decide treatment.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EF3BD7-B56C-4B45-85A9-E410E90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6255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Human review stays in the loop for parsed case verification and clinical compatibility.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7EA420-ADFD-406F-8910-47A0CF01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Approach: Elato voice pipeline + remote Supabase + TokenRouter extraction + Python/Qiskit decision service.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6D0292-DD9C-418E-8636-77854D2B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67084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A7E04-3FB0-44A9-B38C-1A694DA2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280E75-88B9-4C44-B1EC-3B630B2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1CA7BE-CC4A-4BCB-B03E-C01E855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QUANTUM COMPONENT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AE8DD-18A9-4DEE-9BD5-3F23A30B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Qiskit owns the hard decision: which sources, products, and couriers form the fastest complete kit?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A3006-C566-4EBD-A50D-A22F469A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333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F4E26-1174-4EDD-A3E1-5464ECD8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Binary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E73CA-5B1C-4C72-AA43-B5AC193C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rPr>
              <a:t>x_bankA_PRBC = 0/1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FC3B3-EEB8-4B81-B37F-9B22B1E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0C95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F0C95A"/>
                </a:solidFill>
                <a:latin typeface="Aptos Mono"/>
                <a:ea typeface="Aptos Mono"/>
                <a:cs typeface="Aptos Mono"/>
              </a:rPr>
              <a:t>x_bankB_platelet = 0/1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F1D11-B10C-4C30-987A-D5193A9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rPr>
              <a:t>x_pharmD_oxytocin = 0/1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A7F6E-B34A-4CF2-866D-365FC991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F5EEE6"/>
                </a:solidFill>
                <a:latin typeface="Aptos Mono"/>
                <a:ea typeface="Aptos Mono"/>
                <a:cs typeface="Aptos Mono"/>
              </a:rPr>
              <a:t>x_courier2_bankB = 0/1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01F88-51B2-4C3E-B8BF-F097EC4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Every procurement choice becomes a yes/no variable.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542D-9B7B-44F3-A6BE-BEE09BF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333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4B6E7-4295-4776-A73B-E0CAD28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9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rPr>
              <a:t>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4C088-E6EC-4D8B-B7F1-7285FA8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minimize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DE1E0-B282-4D08-9356-96046B14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6B9D3-E6E2-462D-A7B8-DF22E23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complete-kit 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C2564-AC43-469F-95FB-3CCD8387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2083A-5BF8-4767-A496-1E85FA4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432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missing critical items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F5198-67C6-41FC-BA93-271D684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C1007-9898-4BFC-BD5A-7627DFC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incompatible choices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4BCBB-A6ED-4474-9F1B-A5171F92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C4920-D712-4D15-AB76-3846CC86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719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courier overload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FD652-418A-4043-A5A1-88786A7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36795-3442-44DF-B6D9-32856BE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unused near-expiry stock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B7656-25A6-4FA8-8644-64665B8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4ABE7-8782-40CA-A92B-1075484F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Constraints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39B35-BD66-48C1-A147-1EDDD19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0D1EB-2328-4C01-9926-E76BFBCB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do not exceed stock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07709-697E-4B94-995B-414606A6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434C0-7D68-4915-88B3-13F3AB74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respect simplified compatibility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CB1B5-12C9-41EA-8C65-BE67172A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3C55E3-5565-4592-B318-FA6D5B5B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use valid expiry windows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9073D-F342-445F-86E0-80127DA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6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6B738D-3D68-4119-A44D-29C6E114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24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each courier has capacity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D3586-B7D6-4E2B-A4FA-C7A8AC6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C28E39-24A7-454D-BB64-3CB6EF72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target: complete kit &lt;= 30 min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D6F7B3-E89F-4F1D-BA8F-2FEB119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9486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790F82-1296-4EB7-B513-7EA9D0D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Safe claim: QUBO/Ising-style constrained optimization via Qiskit hybrid workflow; no quantum-speedup claim.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5FEEFC-5986-4517-B118-3845CC53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Quantum role: Qiskit Optimization/QuadraticProgram-style binary model with QAOA-ready and exact/classical fallback solvers.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A8566E-43F9-48F5-9E4D-E7EC4B69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4046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C802A-4CBB-490D-99A8-6C44DCCB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05AB2-2EC1-4465-849A-0C3B46A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45DDECB-5D6A-471A-990C-A08E74C3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DEMO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8841D-44E3-4668-86D0-6A047EFE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Phase 2 demo can show measurable improvement over nearest-source procurement.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6F15-D1E3-4DB6-B869-08A1E47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Scenario: unstable PPH case requests 2 O- PRBC, 2 FFP, 1 platelet, TXA, and oxytocin within 30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A2039-4F0E-4939-B030-989DCA1C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4304D-E1CF-4D8E-AE7C-CFA8AD3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rPr>
              <a:t>Greedy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73F1F-4F59-484B-9FA5-5E4E466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Nearest source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E6181-99A1-413F-9BBC-C3F1B3D2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7BA60-8B05-43BE-AAE0-665897F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Blood Bank A: 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C5011-15D2-49E0-9621-51F9F22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Has 1 PRBC + 2 FFP, but no platelet and no oxytocin.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5A022-58B9-4A98-91B6-06ABFA81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443D1-BAD5-4C2B-803E-8206CD7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Result: incomplete kit; escalation still required.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1a6bfbd1b4f9a">
            <a:extLst>
              <a:ext uri="{96DAC541-7B7A-43D3-8B79-37D633B846F1}">
                <asvg:svgBlip xmlns:asvg="http://schemas.microsoft.com/office/drawing/2016/SVG/main" r:embed="R1cb781912e6446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48200" y="24288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3F654-2512-4A1A-931D-C4573684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4953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DD6D8-B6B6-480A-8289-3B08A8BD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Qiskit optimized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E3503-A515-499B-BFB7-C19271F2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Split source + courier assignment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52553-C39D-4FD0-87AC-0302013E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Bank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18AEC-D288-4E45-9ECC-4A5DDB1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1 PRBC + 2 FFP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4983D-CCF1-4818-8089-01B53CB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8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13224-9804-493F-86D7-D1550792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766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Bank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B3BE0-FA39-4B90-B293-4BB9EBB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1 PRBC + 1 platelet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C5172-0263-4114-B37C-666DB7F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766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18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1F88F-931C-4D92-BDD4-2F5E361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Pharmacy 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7CE60-D805-472B-96FF-A22C4056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oxytocin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91A24-97ED-4D58-BBD4-515E114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148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14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BA1DE-DB27-465B-AA6F-706C83C7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1E000-FD18-4B5E-AFE9-A9033404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339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Result: complete kit ETA ~24 min; missing critical items = 0.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3f6378e564742">
            <a:extLst>
              <a:ext uri="{96DAC541-7B7A-43D3-8B79-37D633B846F1}">
                <asvg:svgBlip xmlns:asvg="http://schemas.microsoft.com/office/drawing/2016/SVG/main" r:embed="R2277f63b314f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0" y="24288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EC803F-6932-47BF-8E5B-91598883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53050"/>
            <a:ext cx="7467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BC8F0-7E56-496B-819C-9F5C6B49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76875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Performance metric: complete-kit ETA + unmet critical items.</a:t>
            </a:r>
          </a:p>
          <a:p xmlns:a="http://schemas.openxmlformats.org/drawingml/2006/main">
            <a:pPr algn="ctr">
              <a:defRPr sz="10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We compare operational outcomes, not claimed quantum speedup.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690D7-47AB-4ACC-94FD-71119A8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Demo data is simulated for the hackathon; clinical compatibility and inventory integrations are configurable scope items.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6B0A1-A570-4D79-AA86-2439A14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8987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9C439-94BF-43B1-9FF3-A359853F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D5CEBC-67C1-4562-A01A-D273F8EF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1E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5F08C9-4B5A-4753-854A-001B6A4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1E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1E3F"/>
                </a:solidFill>
                <a:latin typeface="Aptos"/>
                <a:ea typeface="Aptos"/>
                <a:cs typeface="Aptos"/>
              </a:rPr>
              <a:t>TECH STACK / HARDWARE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393C9-ED8B-4953-9D68-3453AB6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The build uses existing integration points instead of inventing a full hospital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FCB16-A385-4659-975E-3C10180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244fabf304586">
            <a:extLst>
              <a:ext uri="{96DAC541-7B7A-43D3-8B79-37D633B846F1}">
                <asvg:svgBlip xmlns:asvg="http://schemas.microsoft.com/office/drawing/2016/SVG/main" r:embed="Ra1f6d9374e274a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1526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5AD14-459C-4D17-BB08-4C720C0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33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Hardware 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2B763-2B25-42DC-8E6D-00CFAE4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Elato ESP32 + PlatformIO firmware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087C5-E437-4028-BF2A-45B5773C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D1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2766de1a14155">
            <a:extLst>
              <a:ext uri="{96DAC541-7B7A-43D3-8B79-37D633B846F1}">
                <asvg:svgBlip xmlns:asvg="http://schemas.microsoft.com/office/drawing/2016/SVG/main" r:embed="R5e9454f360c24c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895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0FA9E-58C4-4EE6-870A-3F18784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Voice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4FC37-3B97-48C9-B3FF-A6D4827A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Elato Deno WebSocket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1A906-E38C-4AEC-B4BB-1AD12C5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B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1a7cc7a3c47eb">
            <a:extLst>
              <a:ext uri="{96DAC541-7B7A-43D3-8B79-37D633B846F1}">
                <asvg:svgBlip xmlns:asvg="http://schemas.microsoft.com/office/drawing/2016/SVG/main" r:embed="Rf69915b84a1e43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3638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0EF13-0DDD-4875-8A76-E7A9D310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Shared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0AF97-AC5D-48CD-9BA9-4086A37A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Remote Supabase: transcripts, cases, inventory,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9E741-11B5-4763-AF56-3D6DE329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d84fd42c04618">
            <a:extLst>
              <a:ext uri="{96DAC541-7B7A-43D3-8B79-37D633B846F1}">
                <asvg:svgBlip xmlns:asvg="http://schemas.microsoft.com/office/drawing/2016/SVG/main" r:embed="R8960ec0762e842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3815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179B3-F456-4D91-9569-5FB754E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Decision 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8B17E-CB4F-4F0D-9346-27DD9CC1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Python FastAPI + TokenRouter parser + Qiskit optimizer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22EFB-2313-47FD-9468-5F90E304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a8d1b60084434">
            <a:extLst>
              <a:ext uri="{96DAC541-7B7A-43D3-8B79-37D633B846F1}">
                <asvg:svgBlip xmlns:asvg="http://schemas.microsoft.com/office/drawing/2016/SVG/main" r:embed="R181f52d7e8ac47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5124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9068B-E5C4-40A4-B95C-ED198F1F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Operator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42940-8A37-4514-9EE6-9AE24E3A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05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Next.js TypeScript dashboard + spoken response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E4311-1232-46BC-BC6A-26A889B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9552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4AE03-7884-428F-A571-0B4AF0CA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82E51-005E-4A3F-B872-B156B3E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3847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DCF4B-69ED-4E17-A427-87154E24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4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1B9BFF-29FA-4618-A178-383CBE10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8142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0B167-3DDC-426B-9813-27032630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A6E855-AC39-4425-95B5-DC7924F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24375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CBE60-46E2-4BC4-ACA1-9F067B79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00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67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48DB11-A3A1-4C7B-A3D7-69684493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2266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E294A7-9B27-4299-B21E-84E927A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1695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Phase 2 readiness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3BCAA1-47E0-417E-977A-6B561B84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58280-7928-4D72-837C-586DC5B3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71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Remote Supabase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1DCB8-5050-471C-A89D-9474B8AC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credentials ready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5BE8D-A5FF-449E-B957-DB9C80B1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1FB2B0-DF4E-4869-A48D-D9D1E8CF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TokenRouter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B8024-D441-44AA-B5C6-FED80D76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00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credits available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7DB08A-C99F-4E51-9659-59A0B9D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556673-E3E9-4F1F-90E1-808A174F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Elato device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845994-2188-434C-8BC4-113FA3D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57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physically available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F53E15-54C4-4B74-876B-CA03094B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9B90BA-878B-43D1-B32D-856D4BF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434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Python/Qiskit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B59297-76F0-4E09-A1CD-9F978C5D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2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D2C9"/>
                </a:solidFill>
                <a:latin typeface="Aptos"/>
                <a:ea typeface="Aptos"/>
                <a:cs typeface="Aptos"/>
              </a:rPr>
              <a:t>fits decision engine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0E27E6-0617-40D8-AC7B-66C19697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Stack: ElatoAI + PlatformIO + Deno + Supabase + TokenRouter + Python/FastAPI + Qiskit + Next.js.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4257EB-A46E-4009-A1F5-51227942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26573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F45E5-66E4-4763-84D9-865F497D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CEBF4A-7295-47A9-A098-6947D252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5D3BCB-5654-4095-B640-6A2FE83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C9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0C95A"/>
                </a:solidFill>
                <a:latin typeface="Aptos"/>
                <a:ea typeface="Aptos"/>
                <a:cs typeface="Aptos"/>
              </a:rPr>
              <a:t>USP + PHASE 2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09798-CADF-4270-82E6-C7EE896B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Unique because it solves a narrow, real procurement decision end-to-end.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C25F4-580F-4F90-8B02-A3AF123E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7D8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7D8CE"/>
                </a:solidFill>
                <a:latin typeface="Aptos"/>
                <a:ea typeface="Aptos"/>
                <a:cs typeface="Aptos"/>
              </a:rPr>
              <a:t>Most projects predict or route generically. MatriBlood Q targets one high-stakes workflow: complete obstetric kit assembly from voice under hard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E123A-8237-43E7-A10C-AA215B6E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E5E24-4192-48A9-9EF0-C4A2A11F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8B1E3F"/>
                </a:solidFill>
                <a:latin typeface="Aptos Display"/>
                <a:ea typeface="Aptos Display"/>
                <a:cs typeface="Aptos Display"/>
              </a:rPr>
              <a:t>Voice-first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0EB89-E2E2-4AF5-8C2D-946952AD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hands-free emergency intake through Elato hardware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81569-C2B7-44F7-AC69-A9C2619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1D3D-0C27-4FEB-8A88-1EB49AC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71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Quantum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03BDF-3881-437D-87E2-85C71A2D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Qiskit makes the procurement combination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54C89-6F86-4580-90F6-3FF011A9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B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BD6F3-9CE4-46FB-B25C-1B8AFA0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rPr>
              <a:t>Science-grounded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8A546-51F4-4CE0-8CE4-3A1E38D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curated constraints from PubMed/OpenFDA-style prep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E25DB-4E6F-4868-8044-47EE9C4A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4C5FB-1A34-4B8A-9353-7B0CF9F7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71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51515"/>
                </a:solidFill>
                <a:latin typeface="Aptos Display"/>
                <a:ea typeface="Aptos Display"/>
                <a:cs typeface="Aptos Display"/>
              </a:rPr>
              <a:t>Feasible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B576A-5633-4C09-8A93-4FB6F33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51515"/>
                </a:solidFill>
                <a:latin typeface="Aptos"/>
                <a:ea typeface="Aptos"/>
                <a:cs typeface="Aptos"/>
              </a:rPr>
              <a:t>simulated inventory first; real integrations later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4410D-CD26-4983-9CA2-5F56790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9944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D1D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B44B0-CBBF-446C-B5C8-1868B332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36C58-F71F-4273-9BC5-F2F60129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0-2h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0DD05-F77E-4057-93C4-73B6EFC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863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seed + 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112A8-1B0D-4BCF-89F0-54E39F9D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28C73-0E59-48AC-A973-84062A7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2-4h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93B08-4251-4DC8-B524-69AFB1AD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863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parser +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8A9CA-BC7D-4F06-8241-31DB3281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577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9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E0C0A7-A737-4F8D-B6AD-687E1BF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4-7h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6CA22-06E7-4DC7-A838-D1E8B49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863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Qiskit optimizer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88F3F-BF99-482A-BDC9-F3CDDAD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E575F9-66D2-4078-A933-11390841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7-9h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2C674-716F-402C-90A8-3E40693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863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Elato voice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CB16C-5AE9-4D75-A6C4-EB57096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5775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9D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60883-E925-4291-A184-F2A28252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1515"/>
                </a:solidFill>
                <a:latin typeface="Aptos"/>
                <a:ea typeface="Aptos"/>
                <a:cs typeface="Aptos"/>
              </a:rPr>
              <a:t>9-10h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8421A-2C1F-4232-97CC-D3A7D842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86325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polish + fallback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F7178-2D96-4837-87ED-0B0FAB5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C9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C95A"/>
                </a:solidFill>
                <a:latin typeface="Aptos"/>
                <a:ea typeface="Aptos"/>
                <a:cs typeface="Aptos"/>
              </a:rPr>
              <a:t>Phase 1 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435AAB-EC52-410D-B17A-4AC24BD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10250"/>
            <a:ext cx="714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Approve MatriBlood Q for Phase 2: a buildable, quantum-centered, hardware-backed social-good MVP.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D9CABD-B964-4DCC-B123-55F929E8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75D"/>
                </a:solidFill>
                <a:latin typeface="Aptos"/>
                <a:ea typeface="Aptos"/>
                <a:cs typeface="Aptos"/>
              </a:rPr>
              <a:t>Out of scope: clinical treatment advice, real patient data, production hospital integration, or quantum-speedup claims.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65478-BF38-4BBC-82C9-418EC2F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675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67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364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2026-05-23T07:07:03.9140000Z</dcterms:created>
  <dcterms:modified xsi:type="dcterms:W3CDTF">2026-05-23T07:07:03.9140000Z</dcterms:modified>
</coreProperties>
</file>